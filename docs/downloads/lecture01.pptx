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수강생에게 먼저 추측을 물어본다. "전기가 발전소에서 날아온다", "전선 속을 빛처럼 달린다" 등</a:t>
            </a:r>
          </a:p>
          <a:p>
            <a:r>
              <a:t>다양한 답을 받아 칠판에 적어 두고, 수업 끝(전류 슬라이드·퀴즈 Q3)에서 다시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OpenStax 18.1 "Define electric charge and describe how the two types of charge interact",</a:t>
            </a:r>
          </a:p>
          <a:p>
            <a:r>
              <a:t>18.2 "Define conductors and insulators", 20.1 "Define electric current"를 비전공자 눈높이로 바꾼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 그림은 '태양계 모형'으로 단순화한 것임을 짚어 준다(OpenStax 그림 18.5도 같은 단순화를 사용).</a:t>
            </a:r>
          </a:p>
          <a:p>
            <a:r>
              <a:t>양성자 하나만 해도 전자보다 약 1836배 무겁다 → 움직이는 쪽은 주로 가벼운 전자.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"Like charges repel, whereas unlike charges attract." (OpenStax 18.1)</a:t>
            </a:r>
          </a:p>
          <a:p>
            <a:r>
              <a:t>자석의 N극·S극과 비슷하다고 연결해 주면 이해가 빠르다(다른 현상이라는 점은 06강에서).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전선 단면(구리심 + 피복)을 보여 주면 좋다 → 실물 사진 준비 필요(assets/photos/01/wire_cross_section).</a:t>
            </a:r>
          </a:p>
          <a:p>
            <a:r>
              <a:t>OpenStax: 순수한 물은 부도체, 소금물은 도체 → "젖은 손으로 콘센트 만지지 말 것"과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OpenStax의 정전기 예: 카펫 위를 걷다 생기는 불꽃, 건조기 속 옷이 달라붙는 현상, 번개.</a:t>
            </a:r>
          </a:p>
          <a:p>
            <a:r>
              <a:t>핵심은 '전하 보존' — 문질러도 전하는 새로 만들어지지 않고 옮겨 갈 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OpenStax 예제 20.3: 12게이지(지름 2.053 mm) 구리선, 20.0 A → 표류 속도 4.53×10⁻⁴ m/s.</a:t>
            </a:r>
          </a:p>
          <a:p>
            <a:r>
              <a:t>신호는 10⁸ m/s 수준으로, 전하 자체보다 약 10¹²배 빠르다.</a:t>
            </a:r>
          </a:p>
          <a:p>
            <a:r>
              <a:t>비유: 구슬이 꽉 찬 호스 — 한쪽에서 밀면 반대쪽 구슬이 즉시 튀어나온다.</a:t>
            </a:r>
          </a:p>
          <a:p>
            <a:r>
              <a:t>(전류의 '방향'은 관례상 전자의 이동과 반대 — 02강에서 다룸)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OpenStax 18.1의 PhET Explorations와 같은 시뮬레이션. "Why does a balloon stick to your sweater?"</a:t>
            </a:r>
          </a:p>
          <a:p>
            <a:r>
              <a:t>휴대폰으로 QR을 찍어 3분간 직접 조작하게 한 뒤 답을 발표.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[정답]</a:t>
            </a:r>
          </a:p>
          <a:p>
            <a:r>
              <a:t>Q1. X — 전자는 (−), 원자핵이 (+)</a:t>
            </a:r>
          </a:p>
          <a:p>
            <a:r>
              <a:t>Q2. X — 전자가 옮겨 갈 뿐, 전체 전하량은 그대로 (전하 보존)</a:t>
            </a:r>
          </a:p>
          <a:p>
            <a:r>
              <a:t>Q3. O — 속 구리는 도체, 겉 피복은 부도체</a:t>
            </a:r>
          </a:p>
          <a:p>
            <a:r>
              <a:t>Q4. X — 전선 속에 이미 있던 전자들이 한꺼번에 밀린다. 빠른 건 신호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600" b="1" lang="ko-KR">
                <a:solidFill>
                  <a:srgbClr val="FFB400"/>
                </a:solidFill>
                <a:latin typeface="Malgun Gothic"/>
                <a:ea typeface="Malgun Gothic"/>
              </a:rPr>
              <a:t>전자전기 기초  ·  LECTURE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53035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5400" b="1" lang="ko-KR">
                <a:solidFill>
                  <a:srgbClr val="FFFFFF"/>
                </a:solidFill>
                <a:latin typeface="Malgun Gothic"/>
                <a:ea typeface="Malgun Gothic"/>
              </a:rPr>
              <a:t>전기란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2000" b="0" lang="ko-KR">
                <a:solidFill>
                  <a:srgbClr val="D8DBEA"/>
                </a:solidFill>
                <a:latin typeface="Malgun Gothic"/>
                <a:ea typeface="Malgun Gothic"/>
              </a:rPr>
              <a:t>눈에 보이지 않는 작은 알갱이, 전자 이야기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400" b="0" lang="ko-KR">
                <a:solidFill>
                  <a:srgbClr val="5E647D"/>
                </a:solidFill>
                <a:latin typeface="Malgun Gothic"/>
                <a:ea typeface="Malgun Gothic"/>
              </a:rPr>
              <a:t>비전공자를 위한 첫걸음</a:t>
            </a:r>
          </a:p>
        </p:txBody>
      </p:sp>
      <p:sp>
        <p:nvSpPr>
          <p:cNvPr id="6" name="자리표시 01/cover"/>
          <p:cNvSpPr/>
          <p:nvPr/>
        </p:nvSpPr>
        <p:spPr>
          <a:xfrm>
            <a:off x="6309360" y="822960"/>
            <a:ext cx="5333695" cy="5212080"/>
          </a:xfrm>
          <a:prstGeom prst="roundRect">
            <a:avLst>
              <a:gd name="adj" fmla="val 4385"/>
            </a:avLst>
          </a:prstGeom>
          <a:solidFill>
            <a:srgbClr val="262B50"/>
          </a:solidFill>
          <a:ln w="19050">
            <a:solidFill>
              <a:srgbClr val="5E647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822960"/>
            <a:ext cx="5333695" cy="5212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latinLnBrk="0">
              <a:lnSpc>
                <a:spcPct val="140000"/>
              </a:lnSpc>
            </a:pPr>
            <a:r>
              <a:rPr sz="1400" b="0" lang="ko-KR">
                <a:solidFill>
                  <a:srgbClr val="5E647D"/>
                </a:solidFill>
                <a:latin typeface="Malgun Gothic"/>
                <a:ea typeface="Malgun Gothic"/>
              </a:rPr>
              <a:t>Google Flow 이미지 자리</a:t>
            </a:r>
          </a:p>
          <a:p>
            <a:pPr algn="ctr" latinLnBrk="0">
              <a:lnSpc>
                <a:spcPct val="140000"/>
              </a:lnSpc>
            </a:pPr>
            <a:r>
              <a:rPr sz="1400" b="0" lang="ko-KR">
                <a:solidFill>
                  <a:srgbClr val="5E647D"/>
                </a:solidFill>
                <a:latin typeface="Malgun Gothic"/>
                <a:ea typeface="Malgun Gothic"/>
              </a:rPr>
              <a:t>01/cover</a:t>
            </a:r>
          </a:p>
          <a:p>
            <a:pPr algn="ctr" latinLnBrk="0">
              <a:lnSpc>
                <a:spcPct val="140000"/>
              </a:lnSpc>
            </a:pPr>
            <a:r>
              <a:rPr sz="1400" b="0" lang="ko-KR">
                <a:solidFill>
                  <a:srgbClr val="5E647D"/>
                </a:solidFill>
                <a:latin typeface="Malgun Gothic"/>
                <a:ea typeface="Malgun Gothic"/>
              </a:rPr>
              <a:t>flow/prompts/01_lecture.md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800" b="1" lang="ko-KR">
                <a:solidFill>
                  <a:srgbClr val="FFB400"/>
                </a:solidFill>
                <a:latin typeface="Malgun Gothic"/>
                <a:ea typeface="Malgun Gothic"/>
              </a:rPr>
              <a:t>오늘의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51206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30000"/>
              </a:lnSpc>
            </a:pPr>
            <a:r>
              <a:rPr sz="3600" b="1" lang="ko-KR">
                <a:solidFill>
                  <a:srgbClr val="FFFFFF"/>
                </a:solidFill>
                <a:latin typeface="Malgun Gothic"/>
                <a:ea typeface="Malgun Gothic"/>
              </a:rPr>
              <a:t>스위치를 누르는 순간, 전선 속에서는 무슨 일이 일어날까?</a:t>
            </a:r>
          </a:p>
        </p:txBody>
      </p:sp>
      <p:sp>
        <p:nvSpPr>
          <p:cNvPr id="4" name="자리표시 01/light_switch"/>
          <p:cNvSpPr/>
          <p:nvPr/>
        </p:nvSpPr>
        <p:spPr>
          <a:xfrm>
            <a:off x="6309360" y="822960"/>
            <a:ext cx="5333695" cy="5212080"/>
          </a:xfrm>
          <a:prstGeom prst="roundRect">
            <a:avLst>
              <a:gd name="adj" fmla="val 4385"/>
            </a:avLst>
          </a:prstGeom>
          <a:solidFill>
            <a:srgbClr val="262B50"/>
          </a:solidFill>
          <a:ln w="19050">
            <a:solidFill>
              <a:srgbClr val="5E647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822960"/>
            <a:ext cx="5333695" cy="5212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latinLnBrk="0">
              <a:lnSpc>
                <a:spcPct val="140000"/>
              </a:lnSpc>
            </a:pPr>
            <a:r>
              <a:rPr sz="1400" b="0" lang="ko-KR">
                <a:solidFill>
                  <a:srgbClr val="5E647D"/>
                </a:solidFill>
                <a:latin typeface="Malgun Gothic"/>
                <a:ea typeface="Malgun Gothic"/>
              </a:rPr>
              <a:t>Google Flow 이미지 자리</a:t>
            </a:r>
          </a:p>
          <a:p>
            <a:pPr algn="ctr" latinLnBrk="0">
              <a:lnSpc>
                <a:spcPct val="140000"/>
              </a:lnSpc>
            </a:pPr>
            <a:r>
              <a:rPr sz="1400" b="0" lang="ko-KR">
                <a:solidFill>
                  <a:srgbClr val="5E647D"/>
                </a:solidFill>
                <a:latin typeface="Malgun Gothic"/>
                <a:ea typeface="Malgun Gothic"/>
              </a:rPr>
              <a:t>01/light_switch</a:t>
            </a:r>
          </a:p>
          <a:p>
            <a:pPr algn="ctr" latinLnBrk="0">
              <a:lnSpc>
                <a:spcPct val="140000"/>
              </a:lnSpc>
            </a:pPr>
            <a:r>
              <a:rPr sz="1400" b="0" lang="ko-KR">
                <a:solidFill>
                  <a:srgbClr val="5E647D"/>
                </a:solidFill>
                <a:latin typeface="Malgun Gothic"/>
                <a:ea typeface="Malgun Gothic"/>
              </a:rPr>
              <a:t>flow/prompts/01_lecture.md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전자전기 기초 · 01 전기란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3000" b="1" lang="ko-KR">
                <a:solidFill>
                  <a:srgbClr val="161A33"/>
                </a:solidFill>
                <a:latin typeface="Malgun Gothic"/>
                <a:ea typeface="Malgun Gothic"/>
              </a:rPr>
              <a:t>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600" b="0" lang="ko-KR">
                <a:solidFill>
                  <a:srgbClr val="5E647D"/>
                </a:solidFill>
                <a:latin typeface="Malgun Gothic"/>
                <a:ea typeface="Malgun Gothic"/>
              </a:rPr>
              <a:t>이번 시간이 끝나면 이렇게 말할 수 있어요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2EC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ko-KR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2000" b="0" lang="ko-KR">
                <a:solidFill>
                  <a:srgbClr val="161A33"/>
                </a:solidFill>
                <a:latin typeface="Malgun Gothic"/>
                <a:ea typeface="Malgun Gothic"/>
              </a:rPr>
              <a:t>물질 속에 (−) 전기를 띤 전자가 있고, 전자가 이동할 수 있음을 설명할 수 있다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ko-KR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2000" b="0" lang="ko-KR">
                <a:solidFill>
                  <a:srgbClr val="161A33"/>
                </a:solidFill>
                <a:latin typeface="Malgun Gothic"/>
                <a:ea typeface="Malgun Gothic"/>
              </a:rPr>
              <a:t>전하끼리 밀고 당기는 규칙과, 도체·부도체의 차이를 말할 수 있다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lang="ko-KR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2000" b="0" lang="ko-KR">
                <a:solidFill>
                  <a:srgbClr val="161A33"/>
                </a:solidFill>
                <a:latin typeface="Malgun Gothic"/>
                <a:ea typeface="Malgun Gothic"/>
              </a:rPr>
              <a:t>정전기와 전류가 모두 '전자의 이동'으로 생긴다는 것을 설명할 수 있다</a:t>
            </a:r>
          </a:p>
        </p:txBody>
      </p:sp>
      <p:pic>
        <p:nvPicPr>
          <p:cNvPr id="10" name="Picture 9" descr="a01_a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57400"/>
            <a:ext cx="4556455" cy="2563006"/>
          </a:xfrm>
          <a:prstGeom prst="roundRect">
            <a:avLst>
              <a:gd name="adj" fmla="val 8919"/>
            </a:avLst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008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전자전기 기초 · 01 전기란 무엇인가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7855" y="640080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출처: OpenStax College Physics 2e, 18.1·18.2·20.1절 학습 목표를 재구성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3000" b="1" lang="ko-KR">
                <a:solidFill>
                  <a:srgbClr val="161A33"/>
                </a:solidFill>
                <a:latin typeface="Malgun Gothic"/>
                <a:ea typeface="Malgun Gothic"/>
              </a:rPr>
              <a:t>모든 물질은 원자로 이루어져 있다</a:t>
            </a:r>
          </a:p>
        </p:txBody>
      </p:sp>
      <p:pic>
        <p:nvPicPr>
          <p:cNvPr id="3" name="a01_atom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417320"/>
            <a:ext cx="7315200" cy="41148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275319" y="1664208"/>
            <a:ext cx="237744" cy="237744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799" y="1600200"/>
            <a:ext cx="2956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800" b="1" lang="ko-KR">
                <a:solidFill>
                  <a:srgbClr val="F25C54"/>
                </a:solidFill>
                <a:latin typeface="Malgun Gothic"/>
                <a:ea typeface="Malgun Gothic"/>
              </a:rPr>
              <a:t>원자핵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799" y="2011680"/>
            <a:ext cx="29562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500" b="0" lang="ko-KR">
                <a:solidFill>
                  <a:srgbClr val="161A33"/>
                </a:solidFill>
                <a:latin typeface="Malgun Gothic"/>
                <a:ea typeface="Malgun Gothic"/>
              </a:rPr>
              <a:t>가운데 묵직한 덩어리. (+) 전기를 띤다</a:t>
            </a:r>
          </a:p>
        </p:txBody>
      </p:sp>
      <p:sp>
        <p:nvSpPr>
          <p:cNvPr id="7" name="Oval 6"/>
          <p:cNvSpPr/>
          <p:nvPr/>
        </p:nvSpPr>
        <p:spPr>
          <a:xfrm>
            <a:off x="8275319" y="2990088"/>
            <a:ext cx="237744" cy="237744"/>
          </a:xfrm>
          <a:prstGeom prst="ellipse">
            <a:avLst/>
          </a:prstGeom>
          <a:solidFill>
            <a:srgbClr val="2EC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799" y="2926080"/>
            <a:ext cx="2956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800" b="1" lang="ko-KR">
                <a:solidFill>
                  <a:srgbClr val="2EC4E6"/>
                </a:solidFill>
                <a:latin typeface="Malgun Gothic"/>
                <a:ea typeface="Malgun Gothic"/>
              </a:rPr>
              <a:t>전자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799" y="3337560"/>
            <a:ext cx="29562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500" b="0" lang="ko-KR">
                <a:solidFill>
                  <a:srgbClr val="161A33"/>
                </a:solidFill>
                <a:latin typeface="Malgun Gothic"/>
                <a:ea typeface="Malgun Gothic"/>
              </a:rPr>
              <a:t>원자핵보다 수천 배 가벼운 알갱이. (−) 전기를 띤다</a:t>
            </a:r>
          </a:p>
        </p:txBody>
      </p:sp>
      <p:sp>
        <p:nvSpPr>
          <p:cNvPr id="10" name="Oval 9"/>
          <p:cNvSpPr/>
          <p:nvPr/>
        </p:nvSpPr>
        <p:spPr>
          <a:xfrm>
            <a:off x="8275319" y="4315968"/>
            <a:ext cx="237744" cy="237744"/>
          </a:xfrm>
          <a:prstGeom prst="ellipse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799" y="4251960"/>
            <a:ext cx="2956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800" b="1" lang="ko-KR">
                <a:solidFill>
                  <a:srgbClr val="161A33"/>
                </a:solidFill>
                <a:latin typeface="Malgun Gothic"/>
                <a:ea typeface="Malgun Gothic"/>
              </a:rPr>
              <a:t>핵심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799" y="4663440"/>
            <a:ext cx="29562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500" b="0" lang="ko-KR">
                <a:solidFill>
                  <a:srgbClr val="161A33"/>
                </a:solidFill>
                <a:latin typeface="Malgun Gothic"/>
                <a:ea typeface="Malgun Gothic"/>
              </a:rPr>
              <a:t>가벼운 전자는 원자를 떠나 다른 곳으로 옮겨 갈 수 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전자전기 기초 · 01 전기란 무엇인가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7855" y="640080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출처: OpenStax 18.1 · NIST CODATA (양성자/전자 질량비 ≈ 1836)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3000" b="1" lang="ko-KR">
                <a:solidFill>
                  <a:srgbClr val="161A33"/>
                </a:solidFill>
                <a:latin typeface="Malgun Gothic"/>
                <a:ea typeface="Malgun Gothic"/>
              </a:rPr>
              <a:t>같은 전기는 밀어내고, 다른 전기는 끌어당긴다</a:t>
            </a:r>
          </a:p>
        </p:txBody>
      </p:sp>
      <p:pic>
        <p:nvPicPr>
          <p:cNvPr id="3" name="a01_charge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417320"/>
            <a:ext cx="7315200" cy="41148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275319" y="1664208"/>
            <a:ext cx="237744" cy="237744"/>
          </a:xfrm>
          <a:prstGeom prst="ellipse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799" y="1600200"/>
            <a:ext cx="2956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800" b="1" lang="ko-KR">
                <a:solidFill>
                  <a:srgbClr val="161A33"/>
                </a:solidFill>
                <a:latin typeface="Malgun Gothic"/>
                <a:ea typeface="Malgun Gothic"/>
              </a:rPr>
              <a:t>+ 와 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799" y="2011680"/>
            <a:ext cx="29562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500" b="0" lang="ko-KR">
                <a:solidFill>
                  <a:srgbClr val="161A33"/>
                </a:solidFill>
                <a:latin typeface="Malgun Gothic"/>
                <a:ea typeface="Malgun Gothic"/>
              </a:rPr>
              <a:t>서로 끌어당긴다</a:t>
            </a:r>
          </a:p>
        </p:txBody>
      </p:sp>
      <p:sp>
        <p:nvSpPr>
          <p:cNvPr id="7" name="Oval 6"/>
          <p:cNvSpPr/>
          <p:nvPr/>
        </p:nvSpPr>
        <p:spPr>
          <a:xfrm>
            <a:off x="8275319" y="2990088"/>
            <a:ext cx="237744" cy="237744"/>
          </a:xfrm>
          <a:prstGeom prst="ellipse">
            <a:avLst/>
          </a:prstGeom>
          <a:solidFill>
            <a:srgbClr val="2EC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799" y="2926080"/>
            <a:ext cx="2956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800" b="1" lang="ko-KR">
                <a:solidFill>
                  <a:srgbClr val="2EC4E6"/>
                </a:solidFill>
                <a:latin typeface="Malgun Gothic"/>
                <a:ea typeface="Malgun Gothic"/>
              </a:rPr>
              <a:t>− 와 −  /  + 와 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799" y="3337560"/>
            <a:ext cx="29562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500" b="0" lang="ko-KR">
                <a:solidFill>
                  <a:srgbClr val="161A33"/>
                </a:solidFill>
                <a:latin typeface="Malgun Gothic"/>
                <a:ea typeface="Malgun Gothic"/>
              </a:rPr>
              <a:t>서로 밀어낸다</a:t>
            </a:r>
          </a:p>
        </p:txBody>
      </p:sp>
      <p:sp>
        <p:nvSpPr>
          <p:cNvPr id="10" name="Oval 9"/>
          <p:cNvSpPr/>
          <p:nvPr/>
        </p:nvSpPr>
        <p:spPr>
          <a:xfrm>
            <a:off x="8275319" y="4315968"/>
            <a:ext cx="237744" cy="237744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799" y="4251960"/>
            <a:ext cx="2956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800" b="1" lang="ko-KR">
                <a:solidFill>
                  <a:srgbClr val="F25C54"/>
                </a:solidFill>
                <a:latin typeface="Malgun Gothic"/>
                <a:ea typeface="Malgun Gothic"/>
              </a:rPr>
              <a:t>크기는 같다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799" y="4663440"/>
            <a:ext cx="29562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500" b="0" lang="ko-KR">
                <a:solidFill>
                  <a:srgbClr val="161A33"/>
                </a:solidFill>
                <a:latin typeface="Malgun Gothic"/>
                <a:ea typeface="Malgun Gothic"/>
              </a:rPr>
              <a:t>전자와 양성자의 전기량은 크기가 같고 부호만 반대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전자전기 기초 · 01 전기란 무엇인가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7855" y="640080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출처: OpenStax College Physics 2e, 18.1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3000" b="1" lang="ko-KR">
                <a:solidFill>
                  <a:srgbClr val="161A33"/>
                </a:solidFill>
                <a:latin typeface="Malgun Gothic"/>
                <a:ea typeface="Malgun Gothic"/>
              </a:rPr>
              <a:t>전자가 잘 다니는 물질, 못 다니는 물질</a:t>
            </a:r>
          </a:p>
        </p:txBody>
      </p:sp>
      <p:pic>
        <p:nvPicPr>
          <p:cNvPr id="3" name="a01_conducto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417320"/>
            <a:ext cx="7315200" cy="41148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275319" y="1664208"/>
            <a:ext cx="237744" cy="237744"/>
          </a:xfrm>
          <a:prstGeom prst="ellipse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799" y="1600200"/>
            <a:ext cx="2956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800" b="1" lang="ko-KR">
                <a:solidFill>
                  <a:srgbClr val="161A33"/>
                </a:solidFill>
                <a:latin typeface="Malgun Gothic"/>
                <a:ea typeface="Malgun Gothic"/>
              </a:rPr>
              <a:t>도체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799" y="2011680"/>
            <a:ext cx="29562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500" b="0" lang="ko-KR">
                <a:solidFill>
                  <a:srgbClr val="161A33"/>
                </a:solidFill>
                <a:latin typeface="Malgun Gothic"/>
                <a:ea typeface="Malgun Gothic"/>
              </a:rPr>
              <a:t>자유전자가 있어 전기가 잘 흐른다 (구리 등 금속, 소금물)</a:t>
            </a:r>
          </a:p>
        </p:txBody>
      </p:sp>
      <p:sp>
        <p:nvSpPr>
          <p:cNvPr id="7" name="Oval 6"/>
          <p:cNvSpPr/>
          <p:nvPr/>
        </p:nvSpPr>
        <p:spPr>
          <a:xfrm>
            <a:off x="8275319" y="2990088"/>
            <a:ext cx="237744" cy="237744"/>
          </a:xfrm>
          <a:prstGeom prst="ellipse">
            <a:avLst/>
          </a:prstGeom>
          <a:solidFill>
            <a:srgbClr val="5E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799" y="2926080"/>
            <a:ext cx="2956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800" b="1" lang="ko-KR">
                <a:solidFill>
                  <a:srgbClr val="5E647D"/>
                </a:solidFill>
                <a:latin typeface="Malgun Gothic"/>
                <a:ea typeface="Malgun Gothic"/>
              </a:rPr>
              <a:t>부도체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799" y="3337560"/>
            <a:ext cx="29562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500" b="0" lang="ko-KR">
                <a:solidFill>
                  <a:srgbClr val="161A33"/>
                </a:solidFill>
                <a:latin typeface="Malgun Gothic"/>
                <a:ea typeface="Malgun Gothic"/>
              </a:rPr>
              <a:t>전자가 묶여 있어 거의 흐르지 않는다 (고무, 플라스틱, 유리)</a:t>
            </a:r>
          </a:p>
        </p:txBody>
      </p:sp>
      <p:sp>
        <p:nvSpPr>
          <p:cNvPr id="10" name="Oval 9"/>
          <p:cNvSpPr/>
          <p:nvPr/>
        </p:nvSpPr>
        <p:spPr>
          <a:xfrm>
            <a:off x="8275319" y="4315968"/>
            <a:ext cx="237744" cy="237744"/>
          </a:xfrm>
          <a:prstGeom prst="ellipse">
            <a:avLst/>
          </a:prstGeom>
          <a:solidFill>
            <a:srgbClr val="2EC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799" y="4251960"/>
            <a:ext cx="2956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800" b="1" lang="ko-KR">
                <a:solidFill>
                  <a:srgbClr val="2EC4E6"/>
                </a:solidFill>
                <a:latin typeface="Malgun Gothic"/>
                <a:ea typeface="Malgun Gothic"/>
              </a:rPr>
              <a:t>그래서 전선은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799" y="4663440"/>
            <a:ext cx="295625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500" b="0" lang="ko-KR">
                <a:solidFill>
                  <a:srgbClr val="161A33"/>
                </a:solidFill>
                <a:latin typeface="Malgun Gothic"/>
                <a:ea typeface="Malgun Gothic"/>
              </a:rPr>
              <a:t>속은 구리(도체), 겉은 플라스틱(부도체)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전자전기 기초 · 01 전기란 무엇인가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7855" y="640080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출처: OpenStax College Physics 2e, 18.2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3000" b="1" lang="ko-KR">
                <a:solidFill>
                  <a:srgbClr val="161A33"/>
                </a:solidFill>
                <a:latin typeface="Malgun Gothic"/>
                <a:ea typeface="Malgun Gothic"/>
              </a:rPr>
              <a:t>정전기 — 전자가 이사 가면 생기는 일</a:t>
            </a:r>
          </a:p>
        </p:txBody>
      </p:sp>
      <p:sp>
        <p:nvSpPr>
          <p:cNvPr id="3" name="자리표시 01/static_balloon"/>
          <p:cNvSpPr/>
          <p:nvPr/>
        </p:nvSpPr>
        <p:spPr>
          <a:xfrm>
            <a:off x="548640" y="1417320"/>
            <a:ext cx="6766560" cy="4572000"/>
          </a:xfrm>
          <a:prstGeom prst="roundRect">
            <a:avLst>
              <a:gd name="adj" fmla="val 5000"/>
            </a:avLst>
          </a:prstGeom>
          <a:solidFill>
            <a:srgbClr val="F1F2F8"/>
          </a:solidFill>
          <a:ln w="19050">
            <a:solidFill>
              <a:srgbClr val="5E647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76656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latinLnBrk="0">
              <a:lnSpc>
                <a:spcPct val="140000"/>
              </a:lnSpc>
            </a:pPr>
            <a:r>
              <a:rPr sz="1400" b="0" lang="ko-KR">
                <a:solidFill>
                  <a:srgbClr val="5E647D"/>
                </a:solidFill>
                <a:latin typeface="Malgun Gothic"/>
                <a:ea typeface="Malgun Gothic"/>
              </a:rPr>
              <a:t>Google Flow 이미지 자리</a:t>
            </a:r>
          </a:p>
          <a:p>
            <a:pPr algn="ctr" latinLnBrk="0">
              <a:lnSpc>
                <a:spcPct val="140000"/>
              </a:lnSpc>
            </a:pPr>
            <a:r>
              <a:rPr sz="1400" b="0" lang="ko-KR">
                <a:solidFill>
                  <a:srgbClr val="5E647D"/>
                </a:solidFill>
                <a:latin typeface="Malgun Gothic"/>
                <a:ea typeface="Malgun Gothic"/>
              </a:rPr>
              <a:t>01/static_balloon</a:t>
            </a:r>
          </a:p>
          <a:p>
            <a:pPr algn="ctr" latinLnBrk="0">
              <a:lnSpc>
                <a:spcPct val="140000"/>
              </a:lnSpc>
            </a:pPr>
            <a:r>
              <a:rPr sz="1400" b="0" lang="ko-KR">
                <a:solidFill>
                  <a:srgbClr val="5E647D"/>
                </a:solidFill>
                <a:latin typeface="Malgun Gothic"/>
                <a:ea typeface="Malgun Gothic"/>
              </a:rPr>
              <a:t>flow/prompts/01_lecture.md</a:t>
            </a:r>
          </a:p>
        </p:txBody>
      </p:sp>
      <p:sp>
        <p:nvSpPr>
          <p:cNvPr id="5" name="Oval 4"/>
          <p:cNvSpPr/>
          <p:nvPr/>
        </p:nvSpPr>
        <p:spPr>
          <a:xfrm>
            <a:off x="7772400" y="1691640"/>
            <a:ext cx="502920" cy="502920"/>
          </a:xfrm>
          <a:prstGeom prst="ellipse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lang="ko-KR">
                <a:solidFill>
                  <a:srgbClr val="161A33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737360"/>
            <a:ext cx="31391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700" b="0" lang="ko-KR">
                <a:solidFill>
                  <a:srgbClr val="161A33"/>
                </a:solidFill>
                <a:latin typeface="Malgun Gothic"/>
                <a:ea typeface="Malgun Gothic"/>
              </a:rPr>
              <a:t>풍선으로 머리카락을 문지른다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3108960"/>
            <a:ext cx="502920" cy="502920"/>
          </a:xfrm>
          <a:prstGeom prst="ellipse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lang="ko-KR">
                <a:solidFill>
                  <a:srgbClr val="161A33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154680"/>
            <a:ext cx="31391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700" b="0" lang="ko-KR">
                <a:solidFill>
                  <a:srgbClr val="161A33"/>
                </a:solidFill>
                <a:latin typeface="Malgun Gothic"/>
                <a:ea typeface="Malgun Gothic"/>
              </a:rPr>
              <a:t>머리카락의 전자가 풍선으로 옮겨 간다 (새로 생기는 게 아니라 '이사')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4526280"/>
            <a:ext cx="502920" cy="502920"/>
          </a:xfrm>
          <a:prstGeom prst="ellipse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lang="ko-KR">
                <a:solidFill>
                  <a:srgbClr val="161A33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572000"/>
            <a:ext cx="31391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700" b="0" lang="ko-KR">
                <a:solidFill>
                  <a:srgbClr val="161A33"/>
                </a:solidFill>
                <a:latin typeface="Malgun Gothic"/>
                <a:ea typeface="Malgun Gothic"/>
              </a:rPr>
              <a:t>풍선은 (−), 머리카락은 (+) → 서로 끌어당겨 머리카락이 선다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전자전기 기초 · 01 전기란 무엇인가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7855" y="640080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출처: OpenStax College Physics 2e, 18.1 (전하 보존 법칙)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3000" b="1" lang="ko-KR">
                <a:solidFill>
                  <a:srgbClr val="161A33"/>
                </a:solidFill>
                <a:latin typeface="Malgun Gothic"/>
                <a:ea typeface="Malgun Gothic"/>
              </a:rPr>
              <a:t>전류 = 전자들이 다 함께 한 방향으로 이동하는 것</a:t>
            </a:r>
          </a:p>
        </p:txBody>
      </p:sp>
      <p:pic>
        <p:nvPicPr>
          <p:cNvPr id="3" name="a01_curren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371600"/>
            <a:ext cx="6766560" cy="380619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726679" y="1527048"/>
            <a:ext cx="237744" cy="237744"/>
          </a:xfrm>
          <a:prstGeom prst="ellipse">
            <a:avLst/>
          </a:prstGeom>
          <a:solidFill>
            <a:srgbClr val="5E6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59" y="1463040"/>
            <a:ext cx="3504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800" b="1" lang="ko-KR">
                <a:solidFill>
                  <a:srgbClr val="5E647D"/>
                </a:solidFill>
                <a:latin typeface="Malgun Gothic"/>
                <a:ea typeface="Malgun Gothic"/>
              </a:rPr>
              <a:t>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59" y="1874520"/>
            <a:ext cx="35048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500" b="0" lang="ko-KR">
                <a:solidFill>
                  <a:srgbClr val="161A33"/>
                </a:solidFill>
                <a:latin typeface="Malgun Gothic"/>
                <a:ea typeface="Malgun Gothic"/>
              </a:rPr>
              <a:t>전자는 제자리에서 꼼지락거릴 뿐, 어디로도 가지 않는다</a:t>
            </a:r>
          </a:p>
        </p:txBody>
      </p:sp>
      <p:sp>
        <p:nvSpPr>
          <p:cNvPr id="7" name="Oval 6"/>
          <p:cNvSpPr/>
          <p:nvPr/>
        </p:nvSpPr>
        <p:spPr>
          <a:xfrm>
            <a:off x="7726679" y="2852927"/>
            <a:ext cx="237744" cy="237744"/>
          </a:xfrm>
          <a:prstGeom prst="ellipse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59" y="2788920"/>
            <a:ext cx="3504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800" b="1" lang="ko-KR">
                <a:solidFill>
                  <a:srgbClr val="161A33"/>
                </a:solidFill>
                <a:latin typeface="Malgun Gothic"/>
                <a:ea typeface="Malgun Gothic"/>
              </a:rPr>
              <a:t>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3200400"/>
            <a:ext cx="350489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500" b="0" lang="ko-KR">
                <a:solidFill>
                  <a:srgbClr val="161A33"/>
                </a:solidFill>
                <a:latin typeface="Malgun Gothic"/>
                <a:ea typeface="Malgun Gothic"/>
              </a:rPr>
              <a:t>건전지가 밀어 주면 전자들이 줄지어 이동 → 전구가 켜진다</a:t>
            </a:r>
          </a:p>
        </p:txBody>
      </p:sp>
      <p:sp>
        <p:nvSpPr>
          <p:cNvPr id="10" name="핵심 상자"/>
          <p:cNvSpPr/>
          <p:nvPr/>
        </p:nvSpPr>
        <p:spPr>
          <a:xfrm>
            <a:off x="548640" y="5394960"/>
            <a:ext cx="11094415" cy="822960"/>
          </a:xfrm>
          <a:prstGeom prst="roundRect">
            <a:avLst>
              <a:gd name="adj" fmla="val 16666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539496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20000"/>
              </a:lnSpc>
            </a:pPr>
            <a:r>
              <a:rPr sz="1500" b="0" lang="ko-KR">
                <a:solidFill>
                  <a:srgbClr val="161A33"/>
                </a:solidFill>
                <a:latin typeface="Malgun Gothic"/>
                <a:ea typeface="Malgun Gothic"/>
              </a:rPr>
              <a:t>굵은 구리선에 20 A가 흘러도 전자는 1초에 약 0.45 mm — 달팽이보다 느리다. 그런데 불이 바로 켜지는 이유는? 전선 속 전자들이 서로 밀어, '밀어라'는 신호가 1초에 1억 m가 넘는 속도로 퍼지기 때문!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전자전기 기초 · 01 전기란 무엇인가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7855" y="640080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출처: OpenStax College Physics 2e, 20.1 예제 20.3 (표류 속도)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3000" b="1" lang="ko-KR">
                <a:solidFill>
                  <a:srgbClr val="FFFFFF"/>
                </a:solidFill>
                <a:latin typeface="Malgun Gothic"/>
                <a:ea typeface="Malgun Gothic"/>
              </a:rPr>
              <a:t>직접 해보기 — PhET 시뮬레이션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291840" cy="329184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r_9f3db6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82880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9834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latinLnBrk="0">
              <a:lnSpc>
                <a:spcPct val="115000"/>
              </a:lnSpc>
            </a:pPr>
            <a:r>
              <a:rPr sz="1000" b="0" lang="ko-KR">
                <a:solidFill>
                  <a:srgbClr val="D8DBEA"/>
                </a:solidFill>
                <a:latin typeface="Malgun Gothic"/>
                <a:ea typeface="Malgun Gothic"/>
              </a:rPr>
              <a:t>https://phet.colorado.edu/ko/simulations/balloons-and-static-electricity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54480"/>
            <a:ext cx="72539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2600" b="1" lang="ko-KR">
                <a:solidFill>
                  <a:srgbClr val="FFB400"/>
                </a:solidFill>
                <a:latin typeface="Malgun Gothic"/>
                <a:ea typeface="Malgun Gothic"/>
              </a:rPr>
              <a:t>풍선과 정전기</a:t>
            </a:r>
          </a:p>
        </p:txBody>
      </p:sp>
      <p:sp>
        <p:nvSpPr>
          <p:cNvPr id="7" name="Oval 6"/>
          <p:cNvSpPr/>
          <p:nvPr/>
        </p:nvSpPr>
        <p:spPr>
          <a:xfrm>
            <a:off x="4389120" y="2377440"/>
            <a:ext cx="457200" cy="457200"/>
          </a:xfrm>
          <a:prstGeom prst="ellipse">
            <a:avLst/>
          </a:prstGeom>
          <a:solidFill>
            <a:srgbClr val="26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ko-KR">
                <a:solidFill>
                  <a:srgbClr val="FFB400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395728"/>
            <a:ext cx="6568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0000"/>
              </a:lnSpc>
            </a:pPr>
            <a:r>
              <a:rPr sz="1800" b="0" lang="ko-KR">
                <a:solidFill>
                  <a:srgbClr val="FFFFFF"/>
                </a:solidFill>
                <a:latin typeface="Malgun Gothic"/>
                <a:ea typeface="Malgun Gothic"/>
              </a:rPr>
              <a:t>풍선을 스웨터에 문질러 보세요. 무엇이 어디로 옮겨 가나요?</a:t>
            </a:r>
          </a:p>
        </p:txBody>
      </p:sp>
      <p:sp>
        <p:nvSpPr>
          <p:cNvPr id="9" name="Oval 8"/>
          <p:cNvSpPr/>
          <p:nvPr/>
        </p:nvSpPr>
        <p:spPr>
          <a:xfrm>
            <a:off x="4389120" y="3337560"/>
            <a:ext cx="457200" cy="457200"/>
          </a:xfrm>
          <a:prstGeom prst="ellipse">
            <a:avLst/>
          </a:prstGeom>
          <a:solidFill>
            <a:srgbClr val="26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ko-KR">
                <a:solidFill>
                  <a:srgbClr val="FFB400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3355848"/>
            <a:ext cx="6568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0000"/>
              </a:lnSpc>
            </a:pPr>
            <a:r>
              <a:rPr sz="1800" b="0" lang="ko-KR">
                <a:solidFill>
                  <a:srgbClr val="FFFFFF"/>
                </a:solidFill>
                <a:latin typeface="Malgun Gothic"/>
                <a:ea typeface="Malgun Gothic"/>
              </a:rPr>
              <a:t>풍선을 벽 가까이 가져가 보세요. 왜 달라붙을까요?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0" y="4297680"/>
            <a:ext cx="457200" cy="457200"/>
          </a:xfrm>
          <a:prstGeom prst="ellipse">
            <a:avLst/>
          </a:prstGeom>
          <a:solidFill>
            <a:srgbClr val="26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lang="ko-KR">
                <a:solidFill>
                  <a:srgbClr val="FFB400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4315968"/>
            <a:ext cx="65681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20000"/>
              </a:lnSpc>
            </a:pPr>
            <a:r>
              <a:rPr sz="1800" b="0" lang="ko-KR">
                <a:solidFill>
                  <a:srgbClr val="FFFFFF"/>
                </a:solidFill>
                <a:latin typeface="Malgun Gothic"/>
                <a:ea typeface="Malgun Gothic"/>
              </a:rPr>
              <a:t>풍선 두 개를 모두 문지른 뒤 가까이 대 보세요. 어떻게 되나요?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전자전기 기초 · 01 전기란 무엇인가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7855" y="640080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출처: PhET Interactive Simulations, University of Colorado Boulder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3000" b="1" lang="ko-KR">
                <a:solidFill>
                  <a:srgbClr val="FFFFFF"/>
                </a:solidFill>
                <a:latin typeface="Malgun Gothic"/>
                <a:ea typeface="Malgun Gothic"/>
              </a:rPr>
              <a:t>핵심 정리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484778" cy="4206240"/>
          </a:xfrm>
          <a:prstGeom prst="roundRect">
            <a:avLst>
              <a:gd name="adj" fmla="val 5247"/>
            </a:avLst>
          </a:prstGeom>
          <a:solidFill>
            <a:srgbClr val="26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2EC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lang="ko-KR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753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2800" b="1" lang="ko-KR">
                <a:solidFill>
                  <a:srgbClr val="2EC4E6"/>
                </a:solidFill>
                <a:latin typeface="Malgun Gothic"/>
                <a:ea typeface="Malgun Gothic"/>
              </a:rPr>
              <a:t>전자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275325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30000"/>
              </a:lnSpc>
            </a:pPr>
            <a:r>
              <a:rPr sz="1700" b="0" lang="ko-KR">
                <a:solidFill>
                  <a:srgbClr val="D8DBEA"/>
                </a:solidFill>
                <a:latin typeface="Malgun Gothic"/>
                <a:ea typeface="Malgun Gothic"/>
              </a:rPr>
              <a:t>모든 물질 속의 (−) 알갱이. 가벼워서 원자를 떠나 이동할 수 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3458" y="1645920"/>
            <a:ext cx="3484778" cy="4206240"/>
          </a:xfrm>
          <a:prstGeom prst="roundRect">
            <a:avLst>
              <a:gd name="adj" fmla="val 5247"/>
            </a:avLst>
          </a:prstGeom>
          <a:solidFill>
            <a:srgbClr val="26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19218" y="2011680"/>
            <a:ext cx="731520" cy="731520"/>
          </a:xfrm>
          <a:prstGeom prst="ellipse">
            <a:avLst/>
          </a:prstGeom>
          <a:solidFill>
            <a:srgbClr val="F2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lang="ko-KR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9218" y="3017520"/>
            <a:ext cx="2753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2800" b="1" lang="ko-KR">
                <a:solidFill>
                  <a:srgbClr val="F25C54"/>
                </a:solidFill>
                <a:latin typeface="Malgun Gothic"/>
                <a:ea typeface="Malgun Gothic"/>
              </a:rPr>
              <a:t>전하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9218" y="3703320"/>
            <a:ext cx="275325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30000"/>
              </a:lnSpc>
            </a:pPr>
            <a:r>
              <a:rPr sz="1700" b="0" lang="ko-KR">
                <a:solidFill>
                  <a:srgbClr val="D8DBEA"/>
                </a:solidFill>
                <a:latin typeface="Malgun Gothic"/>
                <a:ea typeface="Malgun Gothic"/>
              </a:rPr>
              <a:t>같은 부호는 밀고, 다른 부호는 당긴다. 문질러도 새로 생기지 않고 옮겨 갈 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8276" y="1645920"/>
            <a:ext cx="3484778" cy="4206240"/>
          </a:xfrm>
          <a:prstGeom prst="roundRect">
            <a:avLst>
              <a:gd name="adj" fmla="val 5247"/>
            </a:avLst>
          </a:prstGeom>
          <a:solidFill>
            <a:srgbClr val="26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24036" y="2011680"/>
            <a:ext cx="731520" cy="731520"/>
          </a:xfrm>
          <a:prstGeom prst="ellipse">
            <a:avLst/>
          </a:prstGeom>
          <a:solidFill>
            <a:srgbClr val="FF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 lang="ko-KR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4036" y="3017520"/>
            <a:ext cx="27532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2800" b="1" lang="ko-KR">
                <a:solidFill>
                  <a:srgbClr val="FFB400"/>
                </a:solidFill>
                <a:latin typeface="Malgun Gothic"/>
                <a:ea typeface="Malgun Gothic"/>
              </a:rPr>
              <a:t>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4036" y="3703320"/>
            <a:ext cx="275325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30000"/>
              </a:lnSpc>
            </a:pPr>
            <a:r>
              <a:rPr sz="1700" b="0" lang="ko-KR">
                <a:solidFill>
                  <a:srgbClr val="D8DBEA"/>
                </a:solidFill>
                <a:latin typeface="Malgun Gothic"/>
                <a:ea typeface="Malgun Gothic"/>
              </a:rPr>
              <a:t>도체 속 전자들이 다 함께 한 방향으로 이동하는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전자전기 기초 · 01 전기란 무엇인가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3000" b="1" lang="ko-KR">
                <a:solidFill>
                  <a:srgbClr val="161A33"/>
                </a:solidFill>
                <a:latin typeface="Malgun Gothic"/>
                <a:ea typeface="Malgun Gothic"/>
              </a:rPr>
              <a:t>개념 확인 OX 퀴즈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1005840"/>
          </a:xfrm>
          <a:prstGeom prst="roundRect">
            <a:avLst>
              <a:gd name="adj" fmla="val 13636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731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2000" b="1" lang="ko-KR">
                <a:solidFill>
                  <a:srgbClr val="FFB400"/>
                </a:solidFill>
                <a:latin typeface="Malgun Gothic"/>
                <a:ea typeface="Malgun Gothic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19" y="1463040"/>
            <a:ext cx="7863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900" b="0" lang="ko-KR">
                <a:solidFill>
                  <a:srgbClr val="161A33"/>
                </a:solidFill>
                <a:latin typeface="Malgun Gothic"/>
                <a:ea typeface="Malgun Gothic"/>
              </a:rPr>
              <a:t>전자는 (+) 전기를 띤다</a:t>
            </a:r>
          </a:p>
        </p:txBody>
      </p:sp>
      <p:sp>
        <p:nvSpPr>
          <p:cNvPr id="6" name="Oval 5"/>
          <p:cNvSpPr/>
          <p:nvPr/>
        </p:nvSpPr>
        <p:spPr>
          <a:xfrm>
            <a:off x="9677095" y="16002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lang="ko-KR">
                <a:solidFill>
                  <a:srgbClr val="2EC4E6"/>
                </a:solidFill>
                <a:latin typeface="Malgun Gothic"/>
                <a:ea typeface="Malgun Gothic"/>
              </a:rPr>
              <a:t>O</a:t>
            </a:r>
          </a:p>
        </p:txBody>
      </p:sp>
      <p:sp>
        <p:nvSpPr>
          <p:cNvPr id="7" name="Oval 6"/>
          <p:cNvSpPr/>
          <p:nvPr/>
        </p:nvSpPr>
        <p:spPr>
          <a:xfrm>
            <a:off x="10591495" y="16002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lang="ko-KR">
                <a:solidFill>
                  <a:srgbClr val="F25C54"/>
                </a:solidFill>
                <a:latin typeface="Malgun Gothic"/>
                <a:ea typeface="Malgun Gothic"/>
              </a:rPr>
              <a:t>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1094415" cy="1005840"/>
          </a:xfrm>
          <a:prstGeom prst="roundRect">
            <a:avLst>
              <a:gd name="adj" fmla="val 13636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731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2000" b="1" lang="ko-KR">
                <a:solidFill>
                  <a:srgbClr val="FFB400"/>
                </a:solidFill>
                <a:latin typeface="Malgun Gothic"/>
                <a:ea typeface="Malgun Gothic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697480"/>
            <a:ext cx="7863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900" b="0" lang="ko-KR">
                <a:solidFill>
                  <a:srgbClr val="161A33"/>
                </a:solidFill>
                <a:latin typeface="Malgun Gothic"/>
                <a:ea typeface="Malgun Gothic"/>
              </a:rPr>
              <a:t>풍선을 문지르면 전기가 새로 만들어진다</a:t>
            </a:r>
          </a:p>
        </p:txBody>
      </p:sp>
      <p:sp>
        <p:nvSpPr>
          <p:cNvPr id="11" name="Oval 10"/>
          <p:cNvSpPr/>
          <p:nvPr/>
        </p:nvSpPr>
        <p:spPr>
          <a:xfrm>
            <a:off x="9677095" y="28346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lang="ko-KR">
                <a:solidFill>
                  <a:srgbClr val="2EC4E6"/>
                </a:solidFill>
                <a:latin typeface="Malgun Gothic"/>
                <a:ea typeface="Malgun Gothic"/>
              </a:rPr>
              <a:t>O</a:t>
            </a:r>
          </a:p>
        </p:txBody>
      </p:sp>
      <p:sp>
        <p:nvSpPr>
          <p:cNvPr id="12" name="Oval 11"/>
          <p:cNvSpPr/>
          <p:nvPr/>
        </p:nvSpPr>
        <p:spPr>
          <a:xfrm>
            <a:off x="10591495" y="283464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lang="ko-KR">
                <a:solidFill>
                  <a:srgbClr val="F25C54"/>
                </a:solidFill>
                <a:latin typeface="Malgun Gothic"/>
                <a:ea typeface="Malgun Gothic"/>
              </a:rPr>
              <a:t>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11094415" cy="1005840"/>
          </a:xfrm>
          <a:prstGeom prst="roundRect">
            <a:avLst>
              <a:gd name="adj" fmla="val 13636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731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2000" b="1" lang="ko-KR">
                <a:solidFill>
                  <a:srgbClr val="FFB400"/>
                </a:solidFill>
                <a:latin typeface="Malgun Gothic"/>
                <a:ea typeface="Malgun Gothi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3931920"/>
            <a:ext cx="7863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900" b="0" lang="ko-KR">
                <a:solidFill>
                  <a:srgbClr val="161A33"/>
                </a:solidFill>
                <a:latin typeface="Malgun Gothic"/>
                <a:ea typeface="Malgun Gothic"/>
              </a:rPr>
              <a:t>전선 겉의 플라스틱은 전기가 잘 통하지 않는 부도체다</a:t>
            </a:r>
          </a:p>
        </p:txBody>
      </p:sp>
      <p:sp>
        <p:nvSpPr>
          <p:cNvPr id="16" name="Oval 15"/>
          <p:cNvSpPr/>
          <p:nvPr/>
        </p:nvSpPr>
        <p:spPr>
          <a:xfrm>
            <a:off x="9677095" y="40690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lang="ko-KR">
                <a:solidFill>
                  <a:srgbClr val="2EC4E6"/>
                </a:solidFill>
                <a:latin typeface="Malgun Gothic"/>
                <a:ea typeface="Malgun Gothic"/>
              </a:rPr>
              <a:t>O</a:t>
            </a:r>
          </a:p>
        </p:txBody>
      </p:sp>
      <p:sp>
        <p:nvSpPr>
          <p:cNvPr id="17" name="Oval 16"/>
          <p:cNvSpPr/>
          <p:nvPr/>
        </p:nvSpPr>
        <p:spPr>
          <a:xfrm>
            <a:off x="10591495" y="40690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lang="ko-KR">
                <a:solidFill>
                  <a:srgbClr val="F25C54"/>
                </a:solidFill>
                <a:latin typeface="Malgun Gothic"/>
                <a:ea typeface="Malgun Gothic"/>
              </a:rPr>
              <a:t>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11094415" cy="1005840"/>
          </a:xfrm>
          <a:prstGeom prst="roundRect">
            <a:avLst>
              <a:gd name="adj" fmla="val 13636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166360"/>
            <a:ext cx="7315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2000" b="1" lang="ko-KR">
                <a:solidFill>
                  <a:srgbClr val="FFB400"/>
                </a:solidFill>
                <a:latin typeface="Malgun Gothic"/>
                <a:ea typeface="Malgun Gothic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5166360"/>
            <a:ext cx="7863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25000"/>
              </a:lnSpc>
            </a:pPr>
            <a:r>
              <a:rPr sz="1900" b="0" lang="ko-KR">
                <a:solidFill>
                  <a:srgbClr val="161A33"/>
                </a:solidFill>
                <a:latin typeface="Malgun Gothic"/>
                <a:ea typeface="Malgun Gothic"/>
              </a:rPr>
              <a:t>스위치를 켜면 발전소의 전자가 빛의 속도로 날아와 불을 켠다</a:t>
            </a:r>
          </a:p>
        </p:txBody>
      </p:sp>
      <p:sp>
        <p:nvSpPr>
          <p:cNvPr id="21" name="Oval 20"/>
          <p:cNvSpPr/>
          <p:nvPr/>
        </p:nvSpPr>
        <p:spPr>
          <a:xfrm>
            <a:off x="9677095" y="53035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lang="ko-KR">
                <a:solidFill>
                  <a:srgbClr val="2EC4E6"/>
                </a:solidFill>
                <a:latin typeface="Malgun Gothic"/>
                <a:ea typeface="Malgun Gothic"/>
              </a:rPr>
              <a:t>O</a:t>
            </a:r>
          </a:p>
        </p:txBody>
      </p:sp>
      <p:sp>
        <p:nvSpPr>
          <p:cNvPr id="22" name="Oval 21"/>
          <p:cNvSpPr/>
          <p:nvPr/>
        </p:nvSpPr>
        <p:spPr>
          <a:xfrm>
            <a:off x="10591495" y="530352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lang="ko-KR">
                <a:solidFill>
                  <a:srgbClr val="F25C54"/>
                </a:solidFill>
                <a:latin typeface="Malgun Gothic"/>
                <a:ea typeface="Malgun Gothic"/>
              </a:rP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전자전기 기초 · 01 전기란 무엇인가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3000" b="1" lang="ko-KR">
                <a:solidFill>
                  <a:srgbClr val="161A33"/>
                </a:solidFill>
                <a:latin typeface="Malgun Gothic"/>
                <a:ea typeface="Malgun Gothic"/>
              </a:rPr>
              <a:t>참고자료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777240"/>
          </a:xfrm>
          <a:prstGeom prst="roundRect">
            <a:avLst>
              <a:gd name="adj" fmla="val 14117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554480"/>
            <a:ext cx="8595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500" b="1" lang="ko-KR">
                <a:solidFill>
                  <a:srgbClr val="161A33"/>
                </a:solidFill>
                <a:latin typeface="Malgun Gothic"/>
                <a:ea typeface="Malgun Gothic"/>
              </a:rPr>
              <a:t>OpenStax, College Physics 2e — 18.1 정전기와 전하, 18.2 도체와 부도체, 20.1 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87452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200" b="0" lang="ko-KR">
                <a:solidFill>
                  <a:srgbClr val="5E647D"/>
                </a:solidFill>
                <a:latin typeface="Malgun Gothic"/>
                <a:ea typeface="Malgun Gothic"/>
              </a:rPr>
              <a:t>개념·학습 목표·수치 (openstax.org/details/books/college-physics-2e)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1463040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200" b="0" lang="ko-KR">
                <a:solidFill>
                  <a:srgbClr val="5E647D"/>
                </a:solidFill>
                <a:latin typeface="Malgun Gothic"/>
                <a:ea typeface="Malgun Gothic"/>
              </a:rPr>
              <a:t>CC BY 4.0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95728"/>
            <a:ext cx="11094415" cy="777240"/>
          </a:xfrm>
          <a:prstGeom prst="roundRect">
            <a:avLst>
              <a:gd name="adj" fmla="val 14117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487168"/>
            <a:ext cx="8595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500" b="1" lang="ko-KR">
                <a:solidFill>
                  <a:srgbClr val="161A33"/>
                </a:solidFill>
                <a:latin typeface="Malgun Gothic"/>
                <a:ea typeface="Malgun Gothic"/>
              </a:rPr>
              <a:t>SparkFun, What is Electricity?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07208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200" b="0" lang="ko-KR">
                <a:solidFill>
                  <a:srgbClr val="5E647D"/>
                </a:solidFill>
                <a:latin typeface="Malgun Gothic"/>
                <a:ea typeface="Malgun Gothic"/>
              </a:rPr>
              <a:t>설명 순서와 비유 (learn.sparkfun.com/tutorials/what-is-electricity)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8495" y="2395728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200" b="0" lang="ko-KR">
                <a:solidFill>
                  <a:srgbClr val="5E647D"/>
                </a:solidFill>
                <a:latin typeface="Malgun Gothic"/>
                <a:ea typeface="Malgun Gothic"/>
              </a:rPr>
              <a:t>CC BY-SA 4.0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28416"/>
            <a:ext cx="11094415" cy="777240"/>
          </a:xfrm>
          <a:prstGeom prst="roundRect">
            <a:avLst>
              <a:gd name="adj" fmla="val 14117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419856"/>
            <a:ext cx="8595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500" b="1" lang="ko-KR">
                <a:solidFill>
                  <a:srgbClr val="161A33"/>
                </a:solidFill>
                <a:latin typeface="Malgun Gothic"/>
                <a:ea typeface="Malgun Gothic"/>
              </a:rPr>
              <a:t>PhET Interactive Simulations — 풍선과 정전기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739896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200" b="0" lang="ko-KR">
                <a:solidFill>
                  <a:srgbClr val="5E647D"/>
                </a:solidFill>
                <a:latin typeface="Malgun Gothic"/>
                <a:ea typeface="Malgun Gothic"/>
              </a:rPr>
              <a:t>수업 중 탐구 활동 (phet.colorado.edu)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495" y="3328416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200" b="0" lang="ko-KR">
                <a:solidFill>
                  <a:srgbClr val="5E647D"/>
                </a:solidFill>
                <a:latin typeface="Malgun Gothic"/>
                <a:ea typeface="Malgun Gothic"/>
              </a:rPr>
              <a:t>PhET 이용 조건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61104"/>
            <a:ext cx="11094415" cy="777240"/>
          </a:xfrm>
          <a:prstGeom prst="roundRect">
            <a:avLst>
              <a:gd name="adj" fmla="val 14117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352544"/>
            <a:ext cx="8595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500" b="1" lang="ko-KR">
                <a:solidFill>
                  <a:srgbClr val="161A33"/>
                </a:solidFill>
                <a:latin typeface="Malgun Gothic"/>
                <a:ea typeface="Malgun Gothic"/>
              </a:rPr>
              <a:t>NIST CODATA 기본 물리 상수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672584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200" b="0" lang="ko-KR">
                <a:solidFill>
                  <a:srgbClr val="5E647D"/>
                </a:solidFill>
                <a:latin typeface="Malgun Gothic"/>
                <a:ea typeface="Malgun Gothic"/>
              </a:rPr>
              <a:t>양성자/전자 질량비 (physics.nist.gov/cuu)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8495" y="4261104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200" b="0" lang="ko-KR">
                <a:solidFill>
                  <a:srgbClr val="5E647D"/>
                </a:solidFill>
                <a:latin typeface="Malgun Gothic"/>
                <a:ea typeface="Malgun Gothic"/>
              </a:rPr>
              <a:t>공공 자료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93792"/>
            <a:ext cx="11094415" cy="777240"/>
          </a:xfrm>
          <a:prstGeom prst="roundRect">
            <a:avLst>
              <a:gd name="adj" fmla="val 14117"/>
            </a:avLst>
          </a:prstGeom>
          <a:solidFill>
            <a:srgbClr val="F1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285231"/>
            <a:ext cx="8595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500" b="1" lang="ko-KR">
                <a:solidFill>
                  <a:srgbClr val="161A33"/>
                </a:solidFill>
                <a:latin typeface="Malgun Gothic"/>
                <a:ea typeface="Malgun Gothic"/>
              </a:rPr>
              <a:t>일러스트: Google Flow 생성 · 애니메이션: manim으로 자체 제작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605272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200" b="0" lang="ko-KR">
                <a:solidFill>
                  <a:srgbClr val="5E647D"/>
                </a:solidFill>
                <a:latin typeface="Malgun Gothic"/>
                <a:ea typeface="Malgun Gothic"/>
              </a:rPr>
              <a:t>assets/SOURCES.csv 참고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8495" y="5193792"/>
            <a:ext cx="1920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200" b="0" lang="ko-KR">
                <a:solidFill>
                  <a:srgbClr val="5E647D"/>
                </a:solidFill>
                <a:latin typeface="Malgun Gothic"/>
                <a:ea typeface="Malgun Gothic"/>
              </a:rPr>
              <a:t>자체 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전자전기 기초 · 01 전기란 무엇인가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latinLnBrk="0">
              <a:lnSpc>
                <a:spcPct val="115000"/>
              </a:lnSpc>
            </a:pPr>
            <a:r>
              <a:rPr sz="1000" b="0" lang="ko-KR">
                <a:solidFill>
                  <a:srgbClr val="5E647D"/>
                </a:solidFill>
                <a:latin typeface="Malgun Gothic"/>
                <a:ea typeface="Malgun Gothi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